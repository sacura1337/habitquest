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234440"/>
            <a:ext cx="128016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HabitQuest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0">
                <a:solidFill>
                  <a:srgbClr val="A5B4FC"/>
                </a:solidFill>
                <a:latin typeface="Segoe UI"/>
              </a:rPr>
              <a:t>Трекер привычек с геймификацией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Учебная практика УП.08 «Разработка дизайна веб-приложений»
МДК.08.02 Графический дизайн и мультимедиа · ПК 8.2, ПК 8.3
Команда: 3 участника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572000"/>
            <a:ext cx="5120640" cy="1325880"/>
          </a:xfrm>
          <a:prstGeom prst="rect">
            <a:avLst/>
          </a:prstGeom>
          <a:solidFill>
            <a:srgbClr val="151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4709160"/>
            <a:ext cx="47548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A5B4FC"/>
                </a:solidFill>
                <a:latin typeface="Segoe UI"/>
              </a:rPr>
              <a:t>Работающий сайт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https://sacura1337.github.io/habitquest/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A5B4FC"/>
                </a:solidFill>
                <a:latin typeface="Segoe UI"/>
              </a:rPr>
              <a:t>API серверной части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https://habitquest-api-sacura1337.msk1.amvera.tech/docs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4572000"/>
            <a:ext cx="4846320" cy="1325880"/>
          </a:xfrm>
          <a:prstGeom prst="rect">
            <a:avLst/>
          </a:prstGeom>
          <a:solidFill>
            <a:srgbClr val="151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4709160"/>
            <a:ext cx="4480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A5B4FC"/>
                </a:solidFill>
                <a:latin typeface="Segoe UI"/>
              </a:rPr>
              <a:t>Репозиторий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https://github.com/sacura1337/habitquest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A5B4FC"/>
                </a:solidFill>
                <a:latin typeface="Segoe UI"/>
              </a:rPr>
              <a:t>Макет в Figma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мудборд · UI-kit · вайрфреймы · экраны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Segoe UI"/>
              </a:rPr>
              <a:t>Какую проблему решает проект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024128"/>
            <a:ext cx="1005840" cy="5029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Проблема, решение и результат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HabitQuest  ·  УП.08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5257800" cy="4480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45920"/>
            <a:ext cx="5257800" cy="5486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4663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EF4444"/>
                </a:solidFill>
                <a:latin typeface="Segoe UI"/>
              </a:rPr>
              <a:t>Проблема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3172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400" b="1">
                <a:solidFill>
                  <a:srgbClr val="6366F1"/>
                </a:solidFill>
                <a:latin typeface="Segoe UI"/>
              </a:rPr>
              <a:t>•  </a:t>
            </a:r>
            <a:r>
              <a:rPr sz="1400" b="1">
                <a:solidFill>
                  <a:srgbClr val="0F172A"/>
                </a:solidFill>
                <a:latin typeface="Segoe UI"/>
              </a:rPr>
              <a:t>Человек бросает привычку за 3–5 дней. </a:t>
            </a:r>
            <a:r>
              <a:rPr sz="1400">
                <a:solidFill>
                  <a:srgbClr val="64748B"/>
                </a:solidFill>
                <a:latin typeface="Segoe UI"/>
              </a:rPr>
              <a:t>Начальный запал проходит, а результата не видно.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400" b="1">
                <a:solidFill>
                  <a:srgbClr val="6366F1"/>
                </a:solidFill>
                <a:latin typeface="Segoe UI"/>
              </a:rPr>
              <a:t>•  </a:t>
            </a:r>
            <a:r>
              <a:rPr sz="1400" b="1">
                <a:solidFill>
                  <a:srgbClr val="0F172A"/>
                </a:solidFill>
                <a:latin typeface="Segoe UI"/>
              </a:rPr>
              <a:t>Прогресс незаметен. </a:t>
            </a:r>
            <a:r>
              <a:rPr sz="1400">
                <a:solidFill>
                  <a:srgbClr val="64748B"/>
                </a:solidFill>
                <a:latin typeface="Segoe UI"/>
              </a:rPr>
              <a:t>Обычный список задач не показывает, сколько уже сделано и где произошёл срыв.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400" b="1">
                <a:solidFill>
                  <a:srgbClr val="6366F1"/>
                </a:solidFill>
                <a:latin typeface="Segoe UI"/>
              </a:rPr>
              <a:t>•  </a:t>
            </a:r>
            <a:r>
              <a:rPr sz="1400" b="1">
                <a:solidFill>
                  <a:srgbClr val="0F172A"/>
                </a:solidFill>
                <a:latin typeface="Segoe UI"/>
              </a:rPr>
              <a:t>Нет мотивации продолжать. </a:t>
            </a:r>
            <a:r>
              <a:rPr sz="1400">
                <a:solidFill>
                  <a:srgbClr val="64748B"/>
                </a:solidFill>
                <a:latin typeface="Segoe UI"/>
              </a:rPr>
              <a:t>Отсутствует награда и наглядная серия — не к чему стремиться.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400" b="1">
                <a:solidFill>
                  <a:srgbClr val="6366F1"/>
                </a:solidFill>
                <a:latin typeface="Segoe UI"/>
              </a:rPr>
              <a:t>•  </a:t>
            </a:r>
            <a:r>
              <a:rPr sz="1400" b="1">
                <a:solidFill>
                  <a:srgbClr val="0F172A"/>
                </a:solidFill>
                <a:latin typeface="Segoe UI"/>
              </a:rPr>
              <a:t>Статистика не ведётся. </a:t>
            </a:r>
            <a:r>
              <a:rPr sz="1400">
                <a:solidFill>
                  <a:srgbClr val="64748B"/>
                </a:solidFill>
                <a:latin typeface="Segoe UI"/>
              </a:rPr>
              <a:t>Непонятно, какие привычки «держатся», а какие проваливаются.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645920"/>
            <a:ext cx="5257800" cy="4480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645920"/>
            <a:ext cx="525780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828800"/>
            <a:ext cx="4663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10B981"/>
                </a:solidFill>
                <a:latin typeface="Segoe UI"/>
              </a:rPr>
              <a:t>Решение HabitQuest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33172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400" b="1">
                <a:solidFill>
                  <a:srgbClr val="6366F1"/>
                </a:solidFill>
                <a:latin typeface="Segoe UI"/>
              </a:rPr>
              <a:t>•  </a:t>
            </a:r>
            <a:r>
              <a:rPr sz="1400" b="1">
                <a:solidFill>
                  <a:srgbClr val="0F172A"/>
                </a:solidFill>
                <a:latin typeface="Segoe UI"/>
              </a:rPr>
              <a:t>Игровой прогресс. </a:t>
            </a:r>
            <a:r>
              <a:rPr sz="1400">
                <a:solidFill>
                  <a:srgbClr val="64748B"/>
                </a:solidFill>
                <a:latin typeface="Segoe UI"/>
              </a:rPr>
              <a:t>Опыт, уровни, серии и достижения превращают рутину в измеримый результат.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400" b="1">
                <a:solidFill>
                  <a:srgbClr val="6366F1"/>
                </a:solidFill>
                <a:latin typeface="Segoe UI"/>
              </a:rPr>
              <a:t>•  </a:t>
            </a:r>
            <a:r>
              <a:rPr sz="1400" b="1">
                <a:solidFill>
                  <a:srgbClr val="0F172A"/>
                </a:solidFill>
                <a:latin typeface="Segoe UI"/>
              </a:rPr>
              <a:t>Отметка в один клик. </a:t>
            </a:r>
            <a:r>
              <a:rPr sz="1400">
                <a:solidFill>
                  <a:srgbClr val="64748B"/>
                </a:solidFill>
                <a:latin typeface="Segoe UI"/>
              </a:rPr>
              <a:t>Выполнение фиксируется сразу, опыт начисляется автоматически.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400" b="1">
                <a:solidFill>
                  <a:srgbClr val="6366F1"/>
                </a:solidFill>
                <a:latin typeface="Segoe UI"/>
              </a:rPr>
              <a:t>•  </a:t>
            </a:r>
            <a:r>
              <a:rPr sz="1400" b="1">
                <a:solidFill>
                  <a:srgbClr val="0F172A"/>
                </a:solidFill>
                <a:latin typeface="Segoe UI"/>
              </a:rPr>
              <a:t>Наглядная статистика. </a:t>
            </a:r>
            <a:r>
              <a:rPr sz="1400">
                <a:solidFill>
                  <a:srgbClr val="64748B"/>
                </a:solidFill>
                <a:latin typeface="Segoe UI"/>
              </a:rPr>
              <a:t>День, неделя, месяц: график, процент выполнения, разрезы по категориям.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400" b="1">
                <a:solidFill>
                  <a:srgbClr val="6366F1"/>
                </a:solidFill>
                <a:latin typeface="Segoe UI"/>
              </a:rPr>
              <a:t>•  </a:t>
            </a:r>
            <a:r>
              <a:rPr sz="1400" b="1">
                <a:solidFill>
                  <a:srgbClr val="0F172A"/>
                </a:solidFill>
                <a:latin typeface="Segoe UI"/>
              </a:rPr>
              <a:t>Данные сохраняются. </a:t>
            </a:r>
            <a:r>
              <a:rPr sz="1400">
                <a:solidFill>
                  <a:srgbClr val="64748B"/>
                </a:solidFill>
                <a:latin typeface="Segoe UI"/>
              </a:rPr>
              <a:t>Привычки и история лежат в базе данных, а не в коде страницы.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Segoe UI"/>
              </a:rPr>
              <a:t>Техническое задание: цель и аудитория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024128"/>
            <a:ext cx="1005840" cy="5029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Раздел 1 ТЗ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HabitQuest  ·  УП.08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1088136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45920"/>
            <a:ext cx="54864" cy="105156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830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6366F1"/>
                </a:solidFill>
                <a:latin typeface="Segoe UI"/>
              </a:rPr>
              <a:t>Цель проекта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21408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Разработать удобное адаптивное веб-приложение, которое помогает регулярно выполнять полезные привычки за счёт визуального контроля прогресса и элементов геймификации.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Целевая аудитория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8328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6366F1"/>
                </a:solidFill>
                <a:latin typeface="Segoe UI"/>
              </a:rPr>
              <a:t>•  </a:t>
            </a:r>
            <a:r>
              <a:rPr sz="1400">
                <a:solidFill>
                  <a:srgbClr val="0F172A"/>
                </a:solidFill>
                <a:latin typeface="Segoe UI"/>
              </a:rPr>
              <a:t>Студенты и школьники старших классов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6366F1"/>
                </a:solidFill>
                <a:latin typeface="Segoe UI"/>
              </a:rPr>
              <a:t>•  </a:t>
            </a:r>
            <a:r>
              <a:rPr sz="1400">
                <a:solidFill>
                  <a:srgbClr val="0F172A"/>
                </a:solidFill>
                <a:latin typeface="Segoe UI"/>
              </a:rPr>
              <a:t>Молодые специалисты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6366F1"/>
                </a:solidFill>
                <a:latin typeface="Segoe UI"/>
              </a:rPr>
              <a:t>•  </a:t>
            </a:r>
            <a:r>
              <a:rPr sz="1400">
                <a:solidFill>
                  <a:srgbClr val="0F172A"/>
                </a:solidFill>
                <a:latin typeface="Segoe UI"/>
              </a:rPr>
              <a:t>Люди, занимающиеся саморазвитием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6366F1"/>
                </a:solidFill>
                <a:latin typeface="Segoe UI"/>
              </a:rPr>
              <a:t>•  </a:t>
            </a:r>
            <a:r>
              <a:rPr sz="1400">
                <a:solidFill>
                  <a:srgbClr val="0F172A"/>
                </a:solidFill>
                <a:latin typeface="Segoe UI"/>
              </a:rPr>
              <a:t>Пользователи, следящие за спортом и режимом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3063240"/>
            <a:ext cx="52578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2004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6366F1"/>
                </a:solidFill>
                <a:latin typeface="Segoe UI"/>
              </a:rPr>
              <a:t>Персоны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611880"/>
            <a:ext cx="4800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Артём, 19 лет, студент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Хочет наладить режим и учиться каждый день, но быстро теряет мотивацию. Нужен видимый прогресс и награда за усилие.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Мария, 27 лет, специалист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Ведёт несколько привычек одновременно, но не видит долгосрочной картины. Нужны календарь, графики и история выполнения.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Segoe UI"/>
              </a:rPr>
              <a:t>Техническое задание: возможности приложения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024128"/>
            <a:ext cx="1005840" cy="5029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Функциональные требования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HabitQuest  ·  УП.08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3456432" cy="205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45920"/>
            <a:ext cx="3456432" cy="5029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01952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6366F1"/>
                </a:solidFill>
                <a:latin typeface="Segoe UI"/>
              </a:rPr>
              <a:t>Авторизация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359152"/>
            <a:ext cx="3017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Segoe UI"/>
              </a:rPr>
              <a:t>Регистрация, вход, выход. Пароль хранится только в виде хеша bcrypt, доступ — по токену JWT.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5112" y="1645920"/>
            <a:ext cx="3456432" cy="205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645920"/>
            <a:ext cx="3456432" cy="502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901952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Segoe UI"/>
              </a:rPr>
              <a:t>Работа с привычками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359152"/>
            <a:ext cx="3017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Segoe UI"/>
              </a:rPr>
              <a:t>Создание, просмотр, изменение и удаление. Категория, сложность, частота, время напоминания.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645920"/>
            <a:ext cx="3456432" cy="205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645920"/>
            <a:ext cx="3456432" cy="502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4" y="1901952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Segoe UI"/>
              </a:rPr>
              <a:t>Геймификация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2359152"/>
            <a:ext cx="3017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Segoe UI"/>
              </a:rPr>
              <a:t>Начисление опыта, расчёт уровня, прогресс до следующего, текущая и лучшая серия, выдача достижений.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931920"/>
            <a:ext cx="3456432" cy="205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3931920"/>
            <a:ext cx="3456432" cy="50292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187952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3B82F6"/>
                </a:solidFill>
                <a:latin typeface="Segoe UI"/>
              </a:rPr>
              <a:t>Статистика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645152"/>
            <a:ext cx="3017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Segoe UI"/>
              </a:rPr>
              <a:t>Сводка за день, неделю и месяц, график выполнения, процент, история, разрезы по категориям.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5112" y="3931920"/>
            <a:ext cx="3456432" cy="205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25112" y="3931920"/>
            <a:ext cx="3456432" cy="5029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53712" y="4187952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8B5CF6"/>
                </a:solidFill>
                <a:latin typeface="Segoe UI"/>
              </a:rPr>
              <a:t>Профиль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4645152"/>
            <a:ext cx="3017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Segoe UI"/>
              </a:rPr>
              <a:t>Имя, уровень и опыт, полученные достижения, общая статистика, загрузка аватара.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10144" y="3931920"/>
            <a:ext cx="3456432" cy="205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10144" y="3931920"/>
            <a:ext cx="3456432" cy="502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38744" y="4187952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64748B"/>
                </a:solidFill>
                <a:latin typeface="Segoe UI"/>
              </a:rPr>
              <a:t>Адаптивность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8744" y="4645152"/>
            <a:ext cx="3017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Segoe UI"/>
              </a:rPr>
              <a:t>Корректная работа на телефоне 360–390 px, планшете и компьютере, светлая и тёмная темы.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Segoe UI"/>
              </a:rPr>
              <a:t>Техническое задание: карта сайта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024128"/>
            <a:ext cx="1005840" cy="5029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Логическая структура: 11 маршрутов и переходы между ними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HabitQuest  ·  УП.08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8351" y="1527048"/>
            <a:ext cx="6764818" cy="4489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te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503" y="1600200"/>
            <a:ext cx="6618514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998464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Рисунок 1 — Карта сайта приложения HabitQuest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Segoe UI"/>
              </a:rPr>
              <a:t>Техническое задание: модель базы данных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024128"/>
            <a:ext cx="1005840" cy="5029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Физическая структура: шесть связанных таблиц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HabitQuest  ·  УП.08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3054096" y="1527048"/>
            <a:ext cx="6053328" cy="4489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248" y="1600200"/>
            <a:ext cx="5907024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998464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Рисунок 2 — ER-диаграмма базы данных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Segoe UI"/>
              </a:rPr>
              <a:t>Стек технологий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024128"/>
            <a:ext cx="1005840" cy="5029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Выбор обоснован в техническом задании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HabitQuest  ·  УП.08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91640"/>
          <a:ext cx="108813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775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Слой</a:t>
                      </a:r>
                    </a:p>
                  </a:txBody>
                  <a:tcPr anchor="ctr" marL="73152" marR="73152"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Технология</a:t>
                      </a:r>
                    </a:p>
                  </a:txBody>
                  <a:tcPr anchor="ctr" marL="73152" marR="73152"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Почему выбрано</a:t>
                      </a:r>
                    </a:p>
                  </a:txBody>
                  <a:tcPr anchor="ctr" marL="73152" marR="73152">
                    <a:solidFill>
                      <a:srgbClr val="6366F1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Макет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Figma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Бесплатный тариф, совместная работа, компоненты и Auto Layout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Фронтенд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React 18 + Vite + TypeScript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Компонентный подход, быстрый запуск, типизация данных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Стили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CSS Modules, CSS-переменные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Дизайн-токены из макета переходят в код без переписывания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Бэкенд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Python 3.12 + FastAPI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Минимум кода для REST API, автодокументация Swagger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База данных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SQLite → PostgreSQL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Ноль настройки при разработке, переносимость одной строкой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ORM и миграции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SQLAlchemy 2.0 + Alembic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Параметризованные запросы, версионирование схемы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Авторизация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JWT + bcrypt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Пароль только в виде хеша, доступ по токену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Публикация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GitHub Pages, Amvera Cloud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Работает из России, без иностранной карты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Segoe UI"/>
              </a:rPr>
              <a:t>Сайт: главная страница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024128"/>
            <a:ext cx="1005840" cy="5029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Работающий адрес: sacura1337.github.io/habitquest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HabitQuest  ·  УП.08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6673" y="1527048"/>
            <a:ext cx="7010654" cy="44439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_dashboard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825" y="1600200"/>
            <a:ext cx="6864350" cy="4297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952744"/>
            <a:ext cx="7863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Личный кабинет: уровень, опыт, привычки на сегодня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30183" y="1527048"/>
            <a:ext cx="2593594" cy="44439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3_mobile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3335" y="1600200"/>
            <a:ext cx="2447290" cy="4297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732520" y="5952744"/>
            <a:ext cx="2788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Мобильная версия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Segoe UI"/>
              </a:rPr>
              <a:t>Сайт: привычки и статистика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024128"/>
            <a:ext cx="1005840" cy="5029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Данные приходят с сервера, а не прописаны в коде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HabitQuest  ·  УП.08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1359602" y="1527048"/>
            <a:ext cx="3910195" cy="44439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_habits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754" y="1600200"/>
            <a:ext cx="3763891" cy="4297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952744"/>
            <a:ext cx="5349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Список привычек: поиск, фильтры, сортировка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62808" y="1527048"/>
            <a:ext cx="3568023" cy="44439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7_statistics_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5960" y="1600200"/>
            <a:ext cx="3421719" cy="4297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5952744"/>
            <a:ext cx="5349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Статистика: день, неделя, месяц, график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Segoe UI"/>
              </a:rPr>
              <a:t>Сайт: достижения и тёмная тема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024128"/>
            <a:ext cx="1005840" cy="5029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Переключатель темы сохраняет выбор пользователя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HabitQuest  ·  УП.08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1496471" y="1527048"/>
            <a:ext cx="3636458" cy="44439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8_achievements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623" y="1600200"/>
            <a:ext cx="3490154" cy="4297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952744"/>
            <a:ext cx="5349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Достижения: полученные и заблокированные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9048" y="1971705"/>
            <a:ext cx="5495544" cy="35546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2_dashboard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44857"/>
            <a:ext cx="5349240" cy="34083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5952744"/>
            <a:ext cx="5349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Тёмная тема интерфейса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Segoe UI"/>
              </a:rPr>
              <a:t>Кусочки кода: серверная часть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024128"/>
            <a:ext cx="1005840" cy="5029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Расчёт уровня, серии и начисление опыта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HabitQuest  ·  УП.08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760720" cy="4389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19656"/>
            <a:ext cx="5394960" cy="4133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7DD3FC"/>
                </a:solidFill>
                <a:latin typeface="Consolas"/>
              </a:rPr>
              <a:t># app/services/gamification.py — расчёт уровня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def level_threshold(level: int) -&gt; int: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"""Порог уровня L = 100 × (L − 1) × L / 2."""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if level &lt;= 1: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    return 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return 100 * (level - 1) * level // 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def level_from_xp(xp: int) -&gt; int: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"""Уровень по накопленному опыту."""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level = max(1, int((1 + math.isqrt(1 + 8 * (xp // 100))) // 2))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while level_threshold(level + 1) &lt;= xp: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    level += 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return level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7DD3FC"/>
                </a:solidFill>
                <a:latin typeface="Consolas"/>
              </a:rPr>
              <a:t># Начисление опыта за выполнение привычки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XP_BY_DIFFICULTY = {'easy': 10, 'medium': 20, 'hard': 30}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bonus = 5 * (streak // 7)   # бонус за каждые 7 дней серии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60" y="1691640"/>
            <a:ext cx="4983480" cy="4389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1819656"/>
            <a:ext cx="4617720" cy="4133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7DD3FC"/>
                </a:solidFill>
                <a:latin typeface="Consolas"/>
              </a:rPr>
              <a:t># app/core/security.py — хеширование пароля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def hash_password(password: str) -&gt; str: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"""Вернуть bcrypt-хеш пароля."""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raw = password.encode("utf-8")[:72]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return bcrypt.hashpw(raw, bcrypt.gensalt()).decode()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def create_access_token(subject) -&gt; str: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"""Подписать JWT для пользователя."""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issued_at = datetime.now(timezone.utc)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payload = {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    "sub": str(subject), "type": "access",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    "iat": issued_at,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    "exp": issued_at + timedelta(minutes=minutes),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return jwt.encode(payload, settings.SECRET_KEY,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                  algorithm=settings.ALGORITHM)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Segoe UI"/>
              </a:rPr>
              <a:t>Кусочки кода: клиентская часть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024128"/>
            <a:ext cx="1005840" cy="5029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Единый клиент API и переиспользуемые компоненты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HabitQuest  ·  УП.08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760720" cy="4389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19656"/>
            <a:ext cx="5394960" cy="4133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// src/api/client.js — единая точка обращений к серверу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export const SERVER_URL = (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import.meta.env.VITE_API_URL ?? 'http://127.0.0.1:8000'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).replace(/\/+$/, '')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export async function request(path, options = {}) {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const headers = { Accept: 'application/json' 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const token = getToken()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if (token) headers.Authorization = `Bearer ${token}`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const response = await fetch(SERVER_URL + '/api' + path, {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...options, headers,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})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if (!response.ok) throw new ApiError(...)   // понятный текст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return response.status === 204 ? null : response.json()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60" y="1691640"/>
            <a:ext cx="4983480" cy="4389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1819656"/>
            <a:ext cx="4617720" cy="4133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// src/components/ui/DataTable.jsx — таблица со сортировкой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export default function DataTable({ columns, rows, sort, onSort }) {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return (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&lt;table className="data-table"&gt;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  &lt;thead&gt;&lt;tr&gt;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    {columns.map((col) =&gt; (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      &lt;th key={col.key} onClick={() =&gt; onSort(col.key)}&gt;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        {col.title}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        {sort.key === col.key &amp;&amp; (sort.dir === 'asc' ? '↑' : '↓')}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      &lt;/th&gt;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    ))}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  &lt;/tr&gt;&lt;/thead&gt;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  &lt;tbody&gt;{rows.map(renderRow)}&lt;/tbody&gt;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&lt;/table&gt;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Segoe UI"/>
              </a:rPr>
              <a:t>Подключение к базе данных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024128"/>
            <a:ext cx="1005840" cy="5029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Почему выбрана реляционная модель и SQLite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HabitQuest  ·  УП.08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5303520" cy="2148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45920"/>
            <a:ext cx="5303520" cy="5029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6366F1"/>
                </a:solidFill>
                <a:latin typeface="Segoe UI"/>
              </a:rPr>
              <a:t>Почему реляционная база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86000"/>
            <a:ext cx="4800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6366F1"/>
                </a:solidFill>
                <a:latin typeface="Segoe UI"/>
              </a:rPr>
              <a:t>•  </a:t>
            </a:r>
            <a:r>
              <a:rPr sz="1250">
                <a:solidFill>
                  <a:srgbClr val="0F172A"/>
                </a:solidFill>
                <a:latin typeface="Segoe UI"/>
              </a:rPr>
              <a:t>Данные строго связаны: пользователь → привычки → отметки выполнения.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6366F1"/>
                </a:solidFill>
                <a:latin typeface="Segoe UI"/>
              </a:rPr>
              <a:t>•  </a:t>
            </a:r>
            <a:r>
              <a:rPr sz="1250">
                <a:solidFill>
                  <a:srgbClr val="0F172A"/>
                </a:solidFill>
                <a:latin typeface="Segoe UI"/>
              </a:rPr>
              <a:t>Нужны транзакции: начисление опыта и выдача достижения — одна операция.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6366F1"/>
                </a:solidFill>
                <a:latin typeface="Segoe UI"/>
              </a:rPr>
              <a:t>•  </a:t>
            </a:r>
            <a:r>
              <a:rPr sz="1250">
                <a:solidFill>
                  <a:srgbClr val="0F172A"/>
                </a:solidFill>
                <a:latin typeface="Segoe UI"/>
              </a:rPr>
              <a:t>Связи контролируются внешними ключами, целостность держит сама СУБД.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645920"/>
            <a:ext cx="5257800" cy="2148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645920"/>
            <a:ext cx="5257800" cy="502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8288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Segoe UI"/>
              </a:rPr>
              <a:t>Почему SQLite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28600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6366F1"/>
                </a:solidFill>
                <a:latin typeface="Segoe UI"/>
              </a:rPr>
              <a:t>•  </a:t>
            </a:r>
            <a:r>
              <a:rPr sz="1250">
                <a:solidFill>
                  <a:srgbClr val="0F172A"/>
                </a:solidFill>
                <a:latin typeface="Segoe UI"/>
              </a:rPr>
              <a:t>Не требует отдельного сервера — база это файл.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6366F1"/>
                </a:solidFill>
                <a:latin typeface="Segoe UI"/>
              </a:rPr>
              <a:t>•  </a:t>
            </a:r>
            <a:r>
              <a:rPr sz="1250">
                <a:solidFill>
                  <a:srgbClr val="0F172A"/>
                </a:solidFill>
                <a:latin typeface="Segoe UI"/>
              </a:rPr>
              <a:t>На хостинге лежит на постоянном хранилище и переживает пересборку.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6366F1"/>
                </a:solidFill>
                <a:latin typeface="Segoe UI"/>
              </a:rPr>
              <a:t>•  </a:t>
            </a:r>
            <a:r>
              <a:rPr sz="1250">
                <a:solidFill>
                  <a:srgbClr val="0F172A"/>
                </a:solidFill>
                <a:latin typeface="Segoe UI"/>
              </a:rPr>
              <a:t>Один контейнер вместо двух — дешевле на бесплатном тарифе.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40080" y="3977639"/>
          <a:ext cx="10881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0697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Таблица</a:t>
                      </a:r>
                    </a:p>
                  </a:txBody>
                  <a:tcPr anchor="ctr" marL="73152" marR="73152"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Назначение</a:t>
                      </a:r>
                    </a:p>
                  </a:txBody>
                  <a:tcPr anchor="ctr" marL="73152" marR="73152"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Связи</a:t>
                      </a:r>
                    </a:p>
                  </a:txBody>
                  <a:tcPr anchor="ctr" marL="73152" marR="73152">
                    <a:solidFill>
                      <a:srgbClr val="6366F1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Segoe UI"/>
                        </a:rPr>
                        <a:t>users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Segoe UI"/>
                        </a:rPr>
                        <a:t>Учётные записи: имя, e-mail, хеш пароля, опыт, уровень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Segoe UI"/>
                        </a:rPr>
                        <a:t>1:N → habits, user_achievements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Segoe UI"/>
                        </a:rPr>
                        <a:t>categories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Segoe UI"/>
                        </a:rPr>
                        <a:t>Справочник категорий привычек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Segoe UI"/>
                        </a:rPr>
                        <a:t>1:N → habits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Segoe UI"/>
                        </a:rPr>
                        <a:t>habits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Segoe UI"/>
                        </a:rPr>
                        <a:t>Привычки: категория, сложность, частота, напоминание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Segoe UI"/>
                        </a:rPr>
                        <a:t>N:1 → users, categories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Segoe UI"/>
                        </a:rPr>
                        <a:t>habit_completions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Segoe UI"/>
                        </a:rPr>
                        <a:t>История выполнения и начисленный опыт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Segoe UI"/>
                        </a:rPr>
                        <a:t>N:1 → habits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Segoe UI"/>
                        </a:rPr>
                        <a:t>achievements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Segoe UI"/>
                        </a:rPr>
                        <a:t>Справочник достижений и наград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Segoe UI"/>
                        </a:rPr>
                        <a:t>1:N → user_achievements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697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Segoe UI"/>
                        </a:rPr>
                        <a:t>user_achievements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Segoe UI"/>
                        </a:rPr>
                        <a:t>Полученные пользователем достижения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Segoe UI"/>
                        </a:rPr>
                        <a:t>N:1 → users, achievements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Segoe UI"/>
              </a:rPr>
              <a:t>REST API серверной части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024128"/>
            <a:ext cx="1005840" cy="5029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20 методов · документация Swagger формируется автоматически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HabitQuest  ·  УП.08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73736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Метод</a:t>
                      </a:r>
                    </a:p>
                  </a:txBody>
                  <a:tcPr anchor="ctr" marL="73152" marR="73152"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Адрес</a:t>
                      </a:r>
                    </a:p>
                  </a:txBody>
                  <a:tcPr anchor="ctr" marL="73152" marR="73152"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Назначение</a:t>
                      </a:r>
                    </a:p>
                  </a:txBody>
                  <a:tcPr anchor="ctr" marL="73152" marR="73152">
                    <a:solidFill>
                      <a:srgbClr val="6366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POST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/api/auth/register · /api/auth/login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Регистрация и вход, выдача токена доступа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GET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/api/auth/me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Данные текущего пользователя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GET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/api/habits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Список привычек: поиск, фильтры, сортировка, пагинация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POST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/api/habits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Создание привычки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PATCH · DELETE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/api/habits/{id}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Изменение и удаление привычки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POST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/api/habits/{id}/complete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Отметка выполнения: опыт, серия, достижения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GET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/api/statistics/summary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Сводка за день, неделю или месяц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GET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/api/statistics/progress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Точки графика выполнения</a:t>
                      </a:r>
                    </a:p>
                  </a:txBody>
                  <a:tcPr anchor="ctr" marL="73152" marR="73152" marT="18288" marB="18288">
                    <a:solidFill>
                      <a:srgbClr val="EEF2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GET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/api/achievements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172A"/>
                          </a:solidFill>
                          <a:latin typeface="Segoe UI"/>
                        </a:rPr>
                        <a:t>Достижения с прогрессом получения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709160"/>
            <a:ext cx="108813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709160"/>
            <a:ext cx="5486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84632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Segoe UI"/>
              </a:rPr>
              <a:t>Обработка ошибок и защита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93792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Единый формат ответа с понятными сообщениями на русском: 400 — нарушение правила, 401 — нет токена, 403 — чужой объект, 404 — не найдено, 422 — не прошло проверку. Все запросы идут через ORM с параметризацией — SQL-инъекции исключены.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Segoe UI"/>
              </a:rPr>
              <a:t>Хостинг и публикация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024128"/>
            <a:ext cx="1005840" cy="5029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Проект открывается по ссылке, а не с флешки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HabitQuest  ·  УП.08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10881360" cy="12984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54864" cy="129844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3794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6366F1"/>
                </a:solidFill>
                <a:latin typeface="Segoe UI"/>
              </a:rPr>
              <a:t>Фронтенд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2585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Segoe UI"/>
              </a:rPr>
              <a:t>GitHub Pages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1874520"/>
            <a:ext cx="7406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https://sacura1337.github.io/habitquest/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313432"/>
            <a:ext cx="7406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Segoe UI"/>
              </a:rPr>
              <a:t>Сборка и публикация выполняются автоматически при каждом push в ветку main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72968"/>
            <a:ext cx="10881360" cy="12984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172968"/>
            <a:ext cx="54864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31927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Segoe UI"/>
              </a:rPr>
              <a:t>Бэкенд и база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739896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Segoe UI"/>
              </a:rPr>
              <a:t>Amvera Cloud, Москва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355848"/>
            <a:ext cx="7406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https://habitquest-api-sacura1337.msk1.amvera.tech/docs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3794760"/>
            <a:ext cx="7406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Segoe UI"/>
              </a:rPr>
              <a:t>Российский хостинг: регистрация без иностранной карты, развёртывание через git push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654296"/>
            <a:ext cx="10881360" cy="12984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654296"/>
            <a:ext cx="54864" cy="129844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8006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3B82F6"/>
                </a:solidFill>
                <a:latin typeface="Segoe UI"/>
              </a:rPr>
              <a:t>Репозиторий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22122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Segoe UI"/>
              </a:rPr>
              <a:t>GitHub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837176"/>
            <a:ext cx="7406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https://github.com/sacura1337/habitquest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5276088"/>
            <a:ext cx="7406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Segoe UI"/>
              </a:rPr>
              <a:t>Ветки, Pull Request, автоматическая сборка и проверка изменений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Segoe UI"/>
              </a:rPr>
              <a:t>Что проверено на практике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024128"/>
            <a:ext cx="1005840" cy="5029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Не «должно работать», а проверено запросами и сборкой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HabitQuest  ·  УП.08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254203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2542032" cy="502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0B981"/>
                </a:solidFill>
                <a:latin typeface="Segoe UI"/>
              </a:rPr>
              <a:t>13 из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87168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проверок API на боевом сервере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691640"/>
            <a:ext cx="254203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691640"/>
            <a:ext cx="2542032" cy="5029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1874519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6366F1"/>
                </a:solidFill>
                <a:latin typeface="Segoe UI"/>
              </a:rPr>
              <a:t>6 таблиц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487168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схема воспроизводится миграциями с нуля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691640"/>
            <a:ext cx="254203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2542032" cy="502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874519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59E0B"/>
                </a:solidFill>
                <a:latin typeface="Segoe UI"/>
              </a:rPr>
              <a:t>467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87168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тестовых записей создаёт скрипт наполнения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0" y="1691640"/>
            <a:ext cx="254203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69680" y="1691640"/>
            <a:ext cx="2542032" cy="50292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1874519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3B82F6"/>
                </a:solidFill>
                <a:latin typeface="Segoe UI"/>
              </a:rPr>
              <a:t>1630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2487168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модулей собирает фронтенд без ошибок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33756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1">
                <a:solidFill>
                  <a:srgbClr val="6366F1"/>
                </a:solidFill>
                <a:latin typeface="Segoe UI"/>
              </a:rPr>
              <a:t>•  </a:t>
            </a:r>
            <a:r>
              <a:rPr sz="1350" b="1">
                <a:solidFill>
                  <a:srgbClr val="0F172A"/>
                </a:solidFill>
                <a:latin typeface="Segoe UI"/>
              </a:rPr>
              <a:t>Проверены все сценарии: </a:t>
            </a:r>
            <a:r>
              <a:rPr sz="1350">
                <a:solidFill>
                  <a:srgbClr val="64748B"/>
                </a:solidFill>
                <a:latin typeface="Segoe UI"/>
              </a:rPr>
              <a:t>регистрация и вход, создание, изменение и удаление привычки, отметка выполнения и её отмена.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1">
                <a:solidFill>
                  <a:srgbClr val="6366F1"/>
                </a:solidFill>
                <a:latin typeface="Segoe UI"/>
              </a:rPr>
              <a:t>•  </a:t>
            </a:r>
            <a:r>
              <a:rPr sz="1350" b="1">
                <a:solidFill>
                  <a:srgbClr val="0F172A"/>
                </a:solidFill>
                <a:latin typeface="Segoe UI"/>
              </a:rPr>
              <a:t>Проверена защита: </a:t>
            </a:r>
            <a:r>
              <a:rPr sz="1350">
                <a:solidFill>
                  <a:srgbClr val="64748B"/>
                </a:solidFill>
                <a:latin typeface="Segoe UI"/>
              </a:rPr>
              <a:t>запрос без токена и с неверным паролем даёт 401, обращение к чужой привычке — 403.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1">
                <a:solidFill>
                  <a:srgbClr val="6366F1"/>
                </a:solidFill>
                <a:latin typeface="Segoe UI"/>
              </a:rPr>
              <a:t>•  </a:t>
            </a:r>
            <a:r>
              <a:rPr sz="1350" b="1">
                <a:solidFill>
                  <a:srgbClr val="0F172A"/>
                </a:solidFill>
                <a:latin typeface="Segoe UI"/>
              </a:rPr>
              <a:t>Проверена целостность: </a:t>
            </a:r>
            <a:r>
              <a:rPr sz="1350">
                <a:solidFill>
                  <a:srgbClr val="64748B"/>
                </a:solidFill>
                <a:latin typeface="Segoe UI"/>
              </a:rPr>
              <a:t>миграции на пустой базе дают схему, совпадающую с рабочей; скрипт наполнения идемпотентен.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1">
                <a:solidFill>
                  <a:srgbClr val="6366F1"/>
                </a:solidFill>
                <a:latin typeface="Segoe UI"/>
              </a:rPr>
              <a:t>•  </a:t>
            </a:r>
            <a:r>
              <a:rPr sz="1350" b="1">
                <a:solidFill>
                  <a:srgbClr val="0F172A"/>
                </a:solidFill>
                <a:latin typeface="Segoe UI"/>
              </a:rPr>
              <a:t>Проверена связка: </a:t>
            </a:r>
            <a:r>
              <a:rPr sz="1350">
                <a:solidFill>
                  <a:srgbClr val="64748B"/>
                </a:solidFill>
                <a:latin typeface="Segoe UI"/>
              </a:rPr>
              <a:t>в собранный фронтенд зашит адрес боевого API, ссылок на локальный сервер не осталось.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Segoe UI"/>
              </a:rPr>
              <a:t>Плюсы и минусы проекта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024128"/>
            <a:ext cx="1005840" cy="5029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33856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Оценка по факту, без прикрас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HabitQuest  ·  УП.08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5303520" cy="4480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45920"/>
            <a:ext cx="530352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10B981"/>
                </a:solidFill>
                <a:latin typeface="Segoe UI"/>
              </a:rPr>
              <a:t>Сильные стороны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86000"/>
            <a:ext cx="4800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50" b="1">
                <a:solidFill>
                  <a:srgbClr val="6366F1"/>
                </a:solidFill>
                <a:latin typeface="Segoe UI"/>
              </a:rPr>
              <a:t>•  </a:t>
            </a:r>
            <a:r>
              <a:rPr sz="1250" b="1">
                <a:solidFill>
                  <a:srgbClr val="0F172A"/>
                </a:solidFill>
                <a:latin typeface="Segoe UI"/>
              </a:rPr>
              <a:t>Работает целиком. </a:t>
            </a:r>
            <a:r>
              <a:rPr sz="1250">
                <a:solidFill>
                  <a:srgbClr val="64748B"/>
                </a:solidFill>
                <a:latin typeface="Segoe UI"/>
              </a:rPr>
              <a:t>Не прототип: данные сохраняются в базе, есть авторизация и живая ссылка.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50" b="1">
                <a:solidFill>
                  <a:srgbClr val="6366F1"/>
                </a:solidFill>
                <a:latin typeface="Segoe UI"/>
              </a:rPr>
              <a:t>•  </a:t>
            </a:r>
            <a:r>
              <a:rPr sz="1250" b="1">
                <a:solidFill>
                  <a:srgbClr val="0F172A"/>
                </a:solidFill>
                <a:latin typeface="Segoe UI"/>
              </a:rPr>
              <a:t>Понятный интерфейс. </a:t>
            </a:r>
            <a:r>
              <a:rPr sz="1250">
                <a:solidFill>
                  <a:srgbClr val="64748B"/>
                </a:solidFill>
                <a:latin typeface="Segoe UI"/>
              </a:rPr>
              <a:t>Адаптив от 390 px, светлая и тёмная темы, состояния загрузки и ошибок.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50" b="1">
                <a:solidFill>
                  <a:srgbClr val="6366F1"/>
                </a:solidFill>
                <a:latin typeface="Segoe UI"/>
              </a:rPr>
              <a:t>•  </a:t>
            </a:r>
            <a:r>
              <a:rPr sz="1250" b="1">
                <a:solidFill>
                  <a:srgbClr val="0F172A"/>
                </a:solidFill>
                <a:latin typeface="Segoe UI"/>
              </a:rPr>
              <a:t>Безопасность на месте. </a:t>
            </a:r>
            <a:r>
              <a:rPr sz="1250">
                <a:solidFill>
                  <a:srgbClr val="64748B"/>
                </a:solidFill>
                <a:latin typeface="Segoe UI"/>
              </a:rPr>
              <a:t>Пароли только в виде хеша bcrypt, доступ по JWT, ORM вместо ручного SQL.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50" b="1">
                <a:solidFill>
                  <a:srgbClr val="6366F1"/>
                </a:solidFill>
                <a:latin typeface="Segoe UI"/>
              </a:rPr>
              <a:t>•  </a:t>
            </a:r>
            <a:r>
              <a:rPr sz="1250" b="1">
                <a:solidFill>
                  <a:srgbClr val="0F172A"/>
                </a:solidFill>
                <a:latin typeface="Segoe UI"/>
              </a:rPr>
              <a:t>Быстрый старт. </a:t>
            </a:r>
            <a:r>
              <a:rPr sz="1250">
                <a:solidFill>
                  <a:srgbClr val="64748B"/>
                </a:solidFill>
                <a:latin typeface="Segoe UI"/>
              </a:rPr>
              <a:t>Миграции и тестовые данные применяются автоматически при запуске.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50" b="1">
                <a:solidFill>
                  <a:srgbClr val="6366F1"/>
                </a:solidFill>
                <a:latin typeface="Segoe UI"/>
              </a:rPr>
              <a:t>•  </a:t>
            </a:r>
            <a:r>
              <a:rPr sz="1250" b="1">
                <a:solidFill>
                  <a:srgbClr val="0F172A"/>
                </a:solidFill>
                <a:latin typeface="Segoe UI"/>
              </a:rPr>
              <a:t>Бесплатная публикация. </a:t>
            </a:r>
            <a:r>
              <a:rPr sz="1250">
                <a:solidFill>
                  <a:srgbClr val="64748B"/>
                </a:solidFill>
                <a:latin typeface="Segoe UI"/>
              </a:rPr>
              <a:t>Хостинги работают без иностранной карты.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645920"/>
            <a:ext cx="5257800" cy="4480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645920"/>
            <a:ext cx="5257800" cy="5486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8288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EF4444"/>
                </a:solidFill>
                <a:latin typeface="Segoe UI"/>
              </a:rPr>
              <a:t>Слабые стороны и ограничения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28600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50" b="1">
                <a:solidFill>
                  <a:srgbClr val="6366F1"/>
                </a:solidFill>
                <a:latin typeface="Segoe UI"/>
              </a:rPr>
              <a:t>•  </a:t>
            </a:r>
            <a:r>
              <a:rPr sz="1250" b="1">
                <a:solidFill>
                  <a:srgbClr val="0F172A"/>
                </a:solidFill>
                <a:latin typeface="Segoe UI"/>
              </a:rPr>
              <a:t>Напоминания не отправляются. </a:t>
            </a:r>
            <a:r>
              <a:rPr sz="1250">
                <a:solidFill>
                  <a:srgbClr val="64748B"/>
                </a:solidFill>
                <a:latin typeface="Segoe UI"/>
              </a:rPr>
              <a:t>Время хранится в базе, но уведомления не реализованы — нет push и почты.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50" b="1">
                <a:solidFill>
                  <a:srgbClr val="6366F1"/>
                </a:solidFill>
                <a:latin typeface="Segoe UI"/>
              </a:rPr>
              <a:t>•  </a:t>
            </a:r>
            <a:r>
              <a:rPr sz="1250" b="1">
                <a:solidFill>
                  <a:srgbClr val="0F172A"/>
                </a:solidFill>
                <a:latin typeface="Segoe UI"/>
              </a:rPr>
              <a:t>SQLite вместо PostgreSQL. </a:t>
            </a:r>
            <a:r>
              <a:rPr sz="1250">
                <a:solidFill>
                  <a:srgbClr val="64748B"/>
                </a:solidFill>
                <a:latin typeface="Segoe UI"/>
              </a:rPr>
              <a:t>Выбор ради экономии на бесплатном тарифе; при росте нагрузки нужен перенос.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50" b="1">
                <a:solidFill>
                  <a:srgbClr val="6366F1"/>
                </a:solidFill>
                <a:latin typeface="Segoe UI"/>
              </a:rPr>
              <a:t>•  </a:t>
            </a:r>
            <a:r>
              <a:rPr sz="1250" b="1">
                <a:solidFill>
                  <a:srgbClr val="0F172A"/>
                </a:solidFill>
                <a:latin typeface="Segoe UI"/>
              </a:rPr>
              <a:t>Нет восстановления пароля. </a:t>
            </a:r>
            <a:r>
              <a:rPr sz="1250">
                <a:solidFill>
                  <a:srgbClr val="64748B"/>
                </a:solidFill>
                <a:latin typeface="Segoe UI"/>
              </a:rPr>
              <a:t>Забытый пароль восстановить нельзя, подтверждения почты тоже нет.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50" b="1">
                <a:solidFill>
                  <a:srgbClr val="6366F1"/>
                </a:solidFill>
                <a:latin typeface="Segoe UI"/>
              </a:rPr>
              <a:t>•  </a:t>
            </a:r>
            <a:r>
              <a:rPr sz="1250" b="1">
                <a:solidFill>
                  <a:srgbClr val="0F172A"/>
                </a:solidFill>
                <a:latin typeface="Segoe UI"/>
              </a:rPr>
              <a:t>Достижения по простым правилам. </a:t>
            </a:r>
            <a:r>
              <a:rPr sz="1250">
                <a:solidFill>
                  <a:srgbClr val="64748B"/>
                </a:solidFill>
                <a:latin typeface="Segoe UI"/>
              </a:rPr>
              <a:t>Логика выдачи описана кодом, гибких сценариев нет.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50" b="1">
                <a:solidFill>
                  <a:srgbClr val="6366F1"/>
                </a:solidFill>
                <a:latin typeface="Segoe UI"/>
              </a:rPr>
              <a:t>•  </a:t>
            </a:r>
            <a:r>
              <a:rPr sz="1250" b="1">
                <a:solidFill>
                  <a:srgbClr val="0F172A"/>
                </a:solidFill>
                <a:latin typeface="Segoe UI"/>
              </a:rPr>
              <a:t>Зависимость от баланса. </a:t>
            </a:r>
            <a:r>
              <a:rPr sz="1250">
                <a:solidFill>
                  <a:srgbClr val="64748B"/>
                </a:solidFill>
                <a:latin typeface="Segoe UI"/>
              </a:rPr>
              <a:t>Бесплатный тариф Amvera ограничен — при исчерпании сервис остановится.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858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Segoe UI"/>
              </a:rPr>
              <a:t>Что получилось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1417320"/>
            <a:ext cx="109728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CBD5E1"/>
                </a:solidFill>
                <a:latin typeface="Segoe UI"/>
              </a:rPr>
              <a:t>HabitQuest решает конкретную проблему: человек бросает полезные привычки, потому что не видит прогресса и не получает отдачи. Игровая механика делает результат измеримым каждый день — опыт, уровни, серии и достижения.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063240"/>
            <a:ext cx="10241280" cy="868680"/>
          </a:xfrm>
          <a:prstGeom prst="rect">
            <a:avLst/>
          </a:prstGeom>
          <a:solidFill>
            <a:srgbClr val="151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3182112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A5B4FC"/>
                </a:solidFill>
                <a:latin typeface="Segoe UI"/>
              </a:rPr>
              <a:t>Готовый продукт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3209544"/>
            <a:ext cx="6492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CBD5E1"/>
                </a:solidFill>
                <a:latin typeface="Segoe UI"/>
              </a:rPr>
              <a:t>Сайт, REST API, база данных и публикация — всё работает по ссылке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114800"/>
            <a:ext cx="10241280" cy="868680"/>
          </a:xfrm>
          <a:prstGeom prst="rect">
            <a:avLst/>
          </a:prstGeom>
          <a:solidFill>
            <a:srgbClr val="151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4233672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A5B4FC"/>
                </a:solidFill>
                <a:latin typeface="Segoe UI"/>
              </a:rPr>
              <a:t>Проверено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4261104"/>
            <a:ext cx="6492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CBD5E1"/>
                </a:solidFill>
                <a:latin typeface="Segoe UI"/>
              </a:rPr>
              <a:t>13 из 13 проверок API, воспроизводимые миграции, чистая сборка фронтенда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166360"/>
            <a:ext cx="10241280" cy="868680"/>
          </a:xfrm>
          <a:prstGeom prst="rect">
            <a:avLst/>
          </a:prstGeom>
          <a:solidFill>
            <a:srgbClr val="151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5285232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A5B4FC"/>
                </a:solidFill>
                <a:latin typeface="Segoe UI"/>
              </a:rPr>
              <a:t>Куда развивать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5312664"/>
            <a:ext cx="6492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CBD5E1"/>
                </a:solidFill>
                <a:latin typeface="Segoe UI"/>
              </a:rPr>
              <a:t>Напоминания, PostgreSQL, восстановление пароля, гибкие достижения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30936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Спасибо за внимание!  Готовы ответить на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HabitQuest — трекер привычек с геймификацией</dc:title>
  <dc:subject>Учебная практика УП.08</dc:subject>
  <dc:creator>Команда HabitQuest</dc:creator>
  <cp:keywords/>
  <dc:description/>
  <cp:lastModifiedBy>Михаил Лютоев</cp:lastModifiedBy>
  <cp:revision>1</cp:revision>
  <dcterms:created xsi:type="dcterms:W3CDTF">2013-01-27T09:14:16Z</dcterms:created>
  <dcterms:modified xsi:type="dcterms:W3CDTF">2013-01-27T09:15:58Z</dcterms:modified>
  <cp:category/>
</cp:coreProperties>
</file>